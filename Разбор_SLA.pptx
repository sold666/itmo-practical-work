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4"/>
    <p:restoredTop sz="94693"/>
  </p:normalViewPr>
  <p:slideViewPr>
    <p:cSldViewPr snapToGrid="0">
      <p:cViewPr varScale="1">
        <p:scale>
          <a:sx n="118" d="100"/>
          <a:sy n="118" d="100"/>
        </p:scale>
        <p:origin x="10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190B4E-B658-5C35-BAEE-28F214D23F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D5E8150-CF27-C8CA-2EAC-7955C7CCEF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692BE2-25B5-3039-C40B-FDBED60AB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AF5C-19D5-9E4C-A8EC-CBF49941667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F46AC2-9992-13A5-F25D-C1EAAA83E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AD23FC-982C-91B7-6616-6B7AC820E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35A8-7EC4-A04D-A280-42F8BE4327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059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56BC9A-606F-A48F-E9AB-7AE4A8527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92B668-6E72-3003-6254-E50A8F399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D66493-D3DC-DEDF-F770-0F5F25670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AF5C-19D5-9E4C-A8EC-CBF49941667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E8F22D-2D83-799C-EFFB-780FF9EED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ED3B8F-AA1A-E94F-75CC-E777C9B39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35A8-7EC4-A04D-A280-42F8BE4327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2286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C8A8C-F491-3613-5C12-C16A82BE3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D5F248-CDD9-BF19-6DDA-48951CE24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B74D5C-B32B-F5A1-7565-4B9DB6E03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AF5C-19D5-9E4C-A8EC-CBF49941667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B9272A-BE76-16DD-F5DD-17187415E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5960BF-4B20-BE5F-2C46-F7BE94ABA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35A8-7EC4-A04D-A280-42F8BE4327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2571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A1FC8-9F2F-1805-39A9-8C0481BEB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0EE63C-2B5C-CB81-2CB9-75AA8E1C60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520C36C-E8AA-3C73-365A-266451D43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D7CF12-C72C-3DE8-B5FB-BAA2174DF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AF5C-19D5-9E4C-A8EC-CBF49941667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C3EA58-4FBD-A6AE-A79F-98FE50C1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0CE5A1A-362D-7D99-AFCD-24B49E2C1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35A8-7EC4-A04D-A280-42F8BE4327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7105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FDAA18-B92F-4715-2A0F-2FCBA8D03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87573E-CD1A-D8BF-0456-FEAA14045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605142-38DB-7D2A-4B0A-BB5B41624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459C36F-C666-C5B6-6B65-BCD1A9FAFF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8B6FDF7-EE8F-3F6D-63C4-C300F17D86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741945B-F8D9-6E4A-73BF-95C54DA3F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AF5C-19D5-9E4C-A8EC-CBF49941667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BC3A0FC-16FF-587C-78F1-D9FA56ACA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0D03829-D6F7-B674-CFB6-AEC93CBF3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35A8-7EC4-A04D-A280-42F8BE4327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381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294466-1CAA-EDDE-90F4-208D4FA1F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6641DAD-219D-FF9C-443E-5734C74BB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AF5C-19D5-9E4C-A8EC-CBF49941667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33942A7-18B1-B104-9130-434326064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53B646-4844-5A90-FACC-AD5940F59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35A8-7EC4-A04D-A280-42F8BE4327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289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A44A07F-4893-71D3-E73B-09D90DE97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AF5C-19D5-9E4C-A8EC-CBF49941667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CDBB1ED-9FB4-4B31-9C24-0911206A5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41C545-63D3-B652-FDBA-B024B37D3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35A8-7EC4-A04D-A280-42F8BE4327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350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077F6F-7346-A6AB-7D89-A0EA89AEF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EAAE88-D4F2-1A05-FC71-506096104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F9B9D68-0554-2BB9-0EAE-0B9B2069B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B809F6-D2DC-4066-080A-6B5D44DA4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AF5C-19D5-9E4C-A8EC-CBF49941667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8DABAB-F249-3399-A11C-3FBB11A11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3CF73C-B0DA-1F6D-3366-1823488AA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35A8-7EC4-A04D-A280-42F8BE4327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177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403AFA-B7AD-6AA9-1319-5FC34AB93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FC71057-6D92-C94D-02EB-F2625E8C3E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D8984E-3BDB-6DFC-0836-C9E44663A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2EFBED-7DB5-F4E4-368D-1BE54A6E5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AF5C-19D5-9E4C-A8EC-CBF49941667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5C722F-A497-E348-1E56-F8A72E7B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5596F73-A42B-1D33-D75A-B3392BC43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35A8-7EC4-A04D-A280-42F8BE4327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402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112C14-0DCB-4A97-9B6E-F99E47A76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073A323-1740-B646-06EB-51A5F2915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A0901C-B1E1-1E8A-188F-A450969B5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AF5C-19D5-9E4C-A8EC-CBF49941667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46B729-787D-BF11-E60D-50F7EA5D2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8FA751-A47E-AB1B-483A-7CE56D601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35A8-7EC4-A04D-A280-42F8BE4327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3138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78EE47C-7241-6C08-55B4-E3ADACC022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45AF112-90CF-17A1-3312-20EDA4198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0801C5-6BF2-259D-A415-930348702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AF5C-19D5-9E4C-A8EC-CBF49941667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55E622-0181-6410-3CEE-297D117AF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93D798-E48B-C03E-051E-ACBE8C14E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35A8-7EC4-A04D-A280-42F8BE4327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1572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21295C-41A1-2771-A497-D274543B8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F204D8-3E98-AED2-2218-95935B629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C23DEF-82DF-B8E6-E600-F181128ECA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FAAF5C-19D5-9E4C-A8EC-CBF499416671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FEA140-BDC0-233E-1E3E-F57476AC2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72251A-B9C4-B793-1B0A-207CD7ECB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E835A8-7EC4-A04D-A280-42F8BE4327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698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41BD59-C1BE-1A6E-D557-B831B0CBF2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РАЗБОР </a:t>
            </a:r>
            <a:r>
              <a:rPr lang="en-US" dirty="0"/>
              <a:t>SLA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C4FAC4-9BB6-EFFE-DF0C-7DBB8AB9A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6030119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ru-RU" sz="2000" dirty="0"/>
              <a:t>Корж Владислав </a:t>
            </a:r>
            <a:endParaRPr lang="en-US" sz="2000" dirty="0"/>
          </a:p>
          <a:p>
            <a:pPr algn="r"/>
            <a:r>
              <a:rPr lang="ru-RU" sz="2000" dirty="0"/>
              <a:t>М4200С</a:t>
            </a:r>
          </a:p>
        </p:txBody>
      </p:sp>
    </p:spTree>
    <p:extLst>
      <p:ext uri="{BB962C8B-B14F-4D97-AF65-F5344CB8AC3E}">
        <p14:creationId xmlns:p14="http://schemas.microsoft.com/office/powerpoint/2010/main" val="770830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E091C6-08B1-0D12-3738-C58416605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Краткое описание исходного </a:t>
            </a:r>
            <a:r>
              <a:rPr lang="en-US" sz="4000" dirty="0"/>
              <a:t>SLA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697192-44D3-F562-1DEF-08E0421EE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1519"/>
            <a:ext cx="10515600" cy="4175443"/>
          </a:xfrm>
        </p:spPr>
        <p:txBody>
          <a:bodyPr>
            <a:normAutofit/>
          </a:bodyPr>
          <a:lstStyle/>
          <a:p>
            <a:pPr lvl="0" algn="just">
              <a:lnSpc>
                <a:spcPct val="110000"/>
              </a:lnSpc>
            </a:pPr>
            <a:r>
              <a:rPr lang="ru-RU" dirty="0"/>
              <a:t>Напоминает о плановых платежах (налоги, аренда, кредиты) и сроках сдачи отчетности.</a:t>
            </a:r>
          </a:p>
          <a:p>
            <a:pPr lvl="0" algn="just">
              <a:lnSpc>
                <a:spcPct val="110000"/>
              </a:lnSpc>
            </a:pPr>
            <a:r>
              <a:rPr lang="ru-RU" dirty="0"/>
              <a:t>Присылает уведомления об изменениях в законодательстве (налоговом, бухгалтерском), которые касаются пользователя.</a:t>
            </a:r>
          </a:p>
          <a:p>
            <a:pPr lvl="0" algn="just">
              <a:lnSpc>
                <a:spcPct val="110000"/>
              </a:lnSpc>
            </a:pPr>
            <a:r>
              <a:rPr lang="ru-RU" dirty="0"/>
              <a:t>Интегрируется с продуктами «1С:Предприятие» для автоматического получения данных о платежах и сроках.</a:t>
            </a:r>
          </a:p>
          <a:p>
            <a:pPr algn="just">
              <a:lnSpc>
                <a:spcPct val="110000"/>
              </a:lnSpc>
            </a:pPr>
            <a:endParaRPr lang="ru-RU" dirty="0"/>
          </a:p>
        </p:txBody>
      </p:sp>
      <p:pic>
        <p:nvPicPr>
          <p:cNvPr id="5" name="Рисунок 4" descr="Контрольный список со сплошной заливкой">
            <a:extLst>
              <a:ext uri="{FF2B5EF4-FFF2-40B4-BE49-F238E27FC236}">
                <a16:creationId xmlns:a16="http://schemas.microsoft.com/office/drawing/2014/main" id="{2BC45F6E-ED6F-BD57-5F5B-27AC0A92CE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64974" y="463573"/>
            <a:ext cx="1128665" cy="112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612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7D071-5313-4378-457D-8BCB6C0D0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Перегибы</a:t>
            </a:r>
            <a:r>
              <a:rPr lang="en-US" sz="4000" dirty="0"/>
              <a:t>, </a:t>
            </a:r>
            <a:r>
              <a:rPr lang="ru-RU" sz="4000" dirty="0"/>
              <a:t>недочёты</a:t>
            </a:r>
            <a:r>
              <a:rPr lang="en-US" sz="4000" dirty="0"/>
              <a:t>, </a:t>
            </a:r>
            <a:r>
              <a:rPr lang="ru-RU" sz="4000" dirty="0"/>
              <a:t>риски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196373-644C-85D3-4B6C-E6955310A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ru-RU" dirty="0"/>
              <a:t>SLA включает метрики, на которые команда не имеет прямого контроля</a:t>
            </a:r>
          </a:p>
          <a:p>
            <a:pPr algn="just">
              <a:lnSpc>
                <a:spcPct val="100000"/>
              </a:lnSpc>
            </a:pPr>
            <a:r>
              <a:rPr lang="ru-RU" dirty="0"/>
              <a:t>Нереалистичная точность данных из внешних систем</a:t>
            </a:r>
            <a:r>
              <a:rPr lang="ru-RU" dirty="0">
                <a:effectLst/>
              </a:rPr>
              <a:t> </a:t>
            </a:r>
            <a:endParaRPr lang="ru-RU" dirty="0"/>
          </a:p>
          <a:p>
            <a:pPr algn="just">
              <a:lnSpc>
                <a:spcPct val="100000"/>
              </a:lnSpc>
            </a:pPr>
            <a:r>
              <a:rPr lang="ru-RU" dirty="0"/>
              <a:t>Излишне жёсткий SLA на доставку </a:t>
            </a:r>
            <a:r>
              <a:rPr lang="ru-RU" dirty="0" err="1"/>
              <a:t>push</a:t>
            </a:r>
            <a:r>
              <a:rPr lang="ru-RU" dirty="0"/>
              <a:t> уведомлений </a:t>
            </a:r>
          </a:p>
        </p:txBody>
      </p:sp>
      <p:pic>
        <p:nvPicPr>
          <p:cNvPr id="5" name="Рисунок 4" descr="Предупреждение со сплошной заливкой">
            <a:extLst>
              <a:ext uri="{FF2B5EF4-FFF2-40B4-BE49-F238E27FC236}">
                <a16:creationId xmlns:a16="http://schemas.microsoft.com/office/drawing/2014/main" id="{B9D67D28-A021-2AAE-7FE7-733F95B8B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2300" y="386557"/>
            <a:ext cx="941500" cy="9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913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24958-936A-D4C7-9234-D2B55D9AE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Оценка </a:t>
            </a:r>
            <a:r>
              <a:rPr lang="en-US" sz="4000" dirty="0"/>
              <a:t>SLA </a:t>
            </a:r>
            <a:r>
              <a:rPr lang="ru-RU" sz="4000" dirty="0"/>
              <a:t>в контексте чёрных лебедей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8B765C-9392-956A-1AC1-D226D1E93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Данный </a:t>
            </a:r>
            <a:r>
              <a:rPr lang="en" dirty="0"/>
              <a:t>SLA </a:t>
            </a:r>
            <a:r>
              <a:rPr lang="ru-RU" dirty="0"/>
              <a:t>хорошо выявляет и анализирует последствия «чёрных</a:t>
            </a:r>
            <a:r>
              <a:rPr lang="en-US" dirty="0"/>
              <a:t> </a:t>
            </a:r>
            <a:r>
              <a:rPr lang="ru-RU" dirty="0"/>
              <a:t>лебедей»,</a:t>
            </a:r>
            <a:r>
              <a:rPr lang="en-US" dirty="0"/>
              <a:t> </a:t>
            </a:r>
            <a:r>
              <a:rPr lang="ru-RU" dirty="0"/>
              <a:t>но слабо предотвращает их и не защищает от самых дорогих </a:t>
            </a:r>
            <a:r>
              <a:rPr lang="en-US" dirty="0"/>
              <a:t>- </a:t>
            </a:r>
            <a:r>
              <a:rPr lang="ru-RU" dirty="0"/>
              <a:t>коммуникационных и бизнес-рисков.</a:t>
            </a:r>
          </a:p>
        </p:txBody>
      </p:sp>
      <p:pic>
        <p:nvPicPr>
          <p:cNvPr id="5" name="Рисунок 4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B2A7F9-F67A-AC52-87F8-BFE07A943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0913" y="533399"/>
            <a:ext cx="772887" cy="77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902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8F6F23-D3C4-B000-6B9A-67ECA07E9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Что бы вы не делали</a:t>
            </a:r>
            <a:r>
              <a:rPr lang="en-US" sz="4000" dirty="0"/>
              <a:t>?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13BFC8-AE1F-74F5-07FE-413F4C965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ru-RU" dirty="0"/>
              <a:t>Не запускали монетизацию без отдельного финансового SLA</a:t>
            </a:r>
          </a:p>
          <a:p>
            <a:pPr>
              <a:lnSpc>
                <a:spcPct val="100000"/>
              </a:lnSpc>
            </a:pPr>
            <a:r>
              <a:rPr lang="ru-RU" dirty="0"/>
              <a:t>Не обещали сроки и качество для внешних сервисов</a:t>
            </a:r>
          </a:p>
        </p:txBody>
      </p:sp>
      <p:pic>
        <p:nvPicPr>
          <p:cNvPr id="7" name="Рисунок 6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FB97456-3CB3-D34A-05F5-B4F5110B4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169" y="656090"/>
            <a:ext cx="743631" cy="74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87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FDD5F8-FDA4-B557-9A92-0D8F035AE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Что бы вы сделали по-другому</a:t>
            </a:r>
            <a:r>
              <a:rPr lang="en-US" sz="4000" dirty="0"/>
              <a:t>?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C64B4D-9F76-D5BE-05D6-2C506CFCB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ru-RU" dirty="0"/>
              <a:t>Разделил бы </a:t>
            </a:r>
            <a:r>
              <a:rPr lang="en" dirty="0"/>
              <a:t>SLA </a:t>
            </a:r>
            <a:r>
              <a:rPr lang="ru-RU" dirty="0"/>
              <a:t>по зонам ответственности</a:t>
            </a:r>
          </a:p>
          <a:p>
            <a:pPr>
              <a:lnSpc>
                <a:spcPct val="100000"/>
              </a:lnSpc>
            </a:pPr>
            <a:r>
              <a:rPr lang="ru-RU" dirty="0"/>
              <a:t>Добавил бы превентивные сценарии в </a:t>
            </a:r>
            <a:r>
              <a:rPr lang="en" dirty="0"/>
              <a:t>SLA</a:t>
            </a:r>
            <a:endParaRPr lang="ru-RU" dirty="0"/>
          </a:p>
          <a:p>
            <a:pPr>
              <a:lnSpc>
                <a:spcPct val="100000"/>
              </a:lnSpc>
            </a:pPr>
            <a:r>
              <a:rPr lang="ru-RU" dirty="0"/>
              <a:t>Ввёл бы отдельный финансовый </a:t>
            </a:r>
            <a:r>
              <a:rPr lang="en-US" dirty="0"/>
              <a:t>SLA</a:t>
            </a:r>
          </a:p>
          <a:p>
            <a:pPr>
              <a:lnSpc>
                <a:spcPct val="100000"/>
              </a:lnSpc>
            </a:pPr>
            <a:r>
              <a:rPr lang="ru-RU" dirty="0"/>
              <a:t>Немного переделал бы структуру взаимодействия команд</a:t>
            </a:r>
          </a:p>
        </p:txBody>
      </p:sp>
      <p:pic>
        <p:nvPicPr>
          <p:cNvPr id="5" name="Рисунок 4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D66D610-54CE-4B8D-3579-1A9B093A6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212" y="455612"/>
            <a:ext cx="1144588" cy="114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683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CF1E44-E549-4F21-BB0C-2D4892864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6A4389-BE57-F204-AA63-9622641F7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Оценка 8</a:t>
            </a:r>
            <a:r>
              <a:rPr lang="en-US" b="1" dirty="0"/>
              <a:t> / 10</a:t>
            </a:r>
            <a:endParaRPr lang="ru-RU" b="1" dirty="0"/>
          </a:p>
          <a:p>
            <a:pPr marL="0" indent="0">
              <a:buNone/>
            </a:pPr>
            <a:r>
              <a:rPr lang="en-US" dirty="0"/>
              <a:t> </a:t>
            </a:r>
            <a:endParaRPr lang="ru-RU" dirty="0"/>
          </a:p>
          <a:p>
            <a:r>
              <a:rPr lang="en-US" dirty="0"/>
              <a:t>SLA </a:t>
            </a:r>
            <a:r>
              <a:rPr lang="ru-RU" dirty="0"/>
              <a:t>хорошо развернут в плане управленческого инструмента</a:t>
            </a:r>
            <a:r>
              <a:rPr lang="en-US" dirty="0"/>
              <a:t>, </a:t>
            </a:r>
            <a:r>
              <a:rPr lang="ru-RU" dirty="0"/>
              <a:t>что и было целью всех работ</a:t>
            </a:r>
            <a:endParaRPr lang="en-US" dirty="0"/>
          </a:p>
          <a:p>
            <a:r>
              <a:rPr lang="ru-RU" dirty="0"/>
              <a:t>Есть смысловая динамика по релизам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06ABB9-9629-3A1A-EADF-468B082FD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6114" y="489063"/>
            <a:ext cx="1077686" cy="107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4295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193</Words>
  <Application>Microsoft Macintosh PowerPoint</Application>
  <PresentationFormat>Широкоэкранный</PresentationFormat>
  <Paragraphs>26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Тема Office</vt:lpstr>
      <vt:lpstr>РАЗБОР SLA</vt:lpstr>
      <vt:lpstr>Краткое описание исходного SLA</vt:lpstr>
      <vt:lpstr>Перегибы, недочёты, риски</vt:lpstr>
      <vt:lpstr>Оценка SLA в контексте чёрных лебедей</vt:lpstr>
      <vt:lpstr>Что бы вы не делали?</vt:lpstr>
      <vt:lpstr>Что бы вы сделали по-другому?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Vlad Korzh</dc:creator>
  <cp:lastModifiedBy>Vlad Korzh</cp:lastModifiedBy>
  <cp:revision>1</cp:revision>
  <dcterms:created xsi:type="dcterms:W3CDTF">2025-12-16T10:50:39Z</dcterms:created>
  <dcterms:modified xsi:type="dcterms:W3CDTF">2025-12-16T13:04:55Z</dcterms:modified>
</cp:coreProperties>
</file>